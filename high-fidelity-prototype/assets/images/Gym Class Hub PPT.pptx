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Old Standard TT"/>
      <p:regular r:id="rId18"/>
      <p:bold r:id="rId19"/>
      <p: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ldStandardTT-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OldStandardTT-bold.fntdata"/><Relationship Id="rId6" Type="http://schemas.openxmlformats.org/officeDocument/2006/relationships/slide" Target="slides/slide1.xml"/><Relationship Id="rId18" Type="http://schemas.openxmlformats.org/officeDocument/2006/relationships/font" Target="fonts/OldStandardTT-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0357f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0357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c8d572c2ae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c8d572c2a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c8d572c2ae_1_5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c8d572c2ae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c8d572c2ae_1_11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c8d572c2ae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c6f90357f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c6f90357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c6f90357f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c6f90357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c6f90357f_0_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c6f90357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c6f90357f_0_2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c6f90357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c6f90357f_0_3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c6f90357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c6f90357f_0_3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c6f90357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c6f90357f_0_4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c6f90357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c6f90357f_0_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c6f90357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2.jpg"/><Relationship Id="rId4"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Gym Class Hub</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William Moore &amp; Chloe Rhodes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Gym Class Hub</a:t>
            </a:r>
            <a:endParaRPr/>
          </a:p>
        </p:txBody>
      </p:sp>
      <p:sp>
        <p:nvSpPr>
          <p:cNvPr id="66" name="Google Shape;66;p1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Main Functionalities</a:t>
            </a:r>
            <a:endParaRPr/>
          </a:p>
        </p:txBody>
      </p:sp>
      <p:sp>
        <p:nvSpPr>
          <p:cNvPr id="72" name="Google Shape;72;p15"/>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Customer(Student)</a:t>
            </a:r>
            <a:endParaRPr/>
          </a:p>
        </p:txBody>
      </p:sp>
      <p:sp>
        <p:nvSpPr>
          <p:cNvPr id="73" name="Google Shape;73;p15"/>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lang="en"/>
              <a:t>2 drinking glasses</a:t>
            </a:r>
            <a:endParaRPr/>
          </a:p>
          <a:p>
            <a:pPr indent="-342900" lvl="0" marL="457200" rtl="0" algn="l">
              <a:spcBef>
                <a:spcPts val="1600"/>
              </a:spcBef>
              <a:spcAft>
                <a:spcPts val="0"/>
              </a:spcAft>
              <a:buSzPts val="1800"/>
              <a:buChar char="●"/>
            </a:pPr>
            <a:r>
              <a:rPr lang="en"/>
              <a:t>Table salt</a:t>
            </a:r>
            <a:endParaRPr/>
          </a:p>
          <a:p>
            <a:pPr indent="-342900" lvl="0" marL="457200" rtl="0" algn="l">
              <a:spcBef>
                <a:spcPts val="1600"/>
              </a:spcBef>
              <a:spcAft>
                <a:spcPts val="0"/>
              </a:spcAft>
              <a:buSzPts val="1800"/>
              <a:buChar char="●"/>
            </a:pPr>
            <a:r>
              <a:rPr lang="en"/>
              <a:t>2 eggs</a:t>
            </a:r>
            <a:endParaRPr/>
          </a:p>
          <a:p>
            <a:pPr indent="-342900" lvl="0" marL="457200" rtl="0" algn="l">
              <a:spcBef>
                <a:spcPts val="1600"/>
              </a:spcBef>
              <a:spcAft>
                <a:spcPts val="1600"/>
              </a:spcAft>
              <a:buSzPts val="1800"/>
              <a:buChar char="●"/>
            </a:pPr>
            <a:r>
              <a:rPr lang="en"/>
              <a:t>Water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type="title"/>
          </p:nvPr>
        </p:nvSpPr>
        <p:spPr>
          <a:xfrm>
            <a:off x="265500" y="1382350"/>
            <a:ext cx="4045200" cy="1333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Main Functionalities</a:t>
            </a:r>
            <a:endParaRPr/>
          </a:p>
        </p:txBody>
      </p:sp>
      <p:sp>
        <p:nvSpPr>
          <p:cNvPr id="79" name="Google Shape;79;p16"/>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Provider(Instructor)</a:t>
            </a:r>
            <a:endParaRPr/>
          </a:p>
        </p:txBody>
      </p:sp>
      <p:sp>
        <p:nvSpPr>
          <p:cNvPr id="80" name="Google Shape;80;p16"/>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Char char="●"/>
            </a:pPr>
            <a:r>
              <a:rPr lang="en"/>
              <a:t>Log in or sign up</a:t>
            </a:r>
            <a:endParaRPr/>
          </a:p>
          <a:p>
            <a:pPr indent="-342900" lvl="0" marL="457200" rtl="0" algn="l">
              <a:spcBef>
                <a:spcPts val="1600"/>
              </a:spcBef>
              <a:spcAft>
                <a:spcPts val="0"/>
              </a:spcAft>
              <a:buSzPts val="1800"/>
              <a:buChar char="●"/>
            </a:pPr>
            <a:r>
              <a:rPr lang="en"/>
              <a:t>Create and schedule a class</a:t>
            </a:r>
            <a:endParaRPr/>
          </a:p>
          <a:p>
            <a:pPr indent="-342900" lvl="0" marL="457200" rtl="0" algn="l">
              <a:spcBef>
                <a:spcPts val="1600"/>
              </a:spcBef>
              <a:spcAft>
                <a:spcPts val="0"/>
              </a:spcAft>
              <a:buSzPts val="1800"/>
              <a:buChar char="●"/>
            </a:pPr>
            <a:r>
              <a:rPr lang="en"/>
              <a:t>View enrollments/waitlist</a:t>
            </a:r>
            <a:endParaRPr/>
          </a:p>
          <a:p>
            <a:pPr indent="-342900" lvl="0" marL="457200" rtl="0" algn="l">
              <a:spcBef>
                <a:spcPts val="1600"/>
              </a:spcBef>
              <a:spcAft>
                <a:spcPts val="1600"/>
              </a:spcAft>
              <a:buSzPts val="1800"/>
              <a:buChar char="●"/>
            </a:pPr>
            <a:r>
              <a:rPr lang="en"/>
              <a:t>Reply to reviews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How does the density of an object affect its ability to float?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Experiment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Procedure</a:t>
            </a:r>
            <a:endParaRPr/>
          </a:p>
        </p:txBody>
      </p:sp>
      <p:sp>
        <p:nvSpPr>
          <p:cNvPr id="96" name="Google Shape;96;p19"/>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sz="1600"/>
              <a:t>Lorem ipsum dolor sit amet, consectetur adipiscing elit, sed do eiusmod tempor incididunt ut labore et dolore magna aliqua</a:t>
            </a:r>
            <a:endParaRPr sz="1600"/>
          </a:p>
          <a:p>
            <a:pPr indent="-330200" lvl="0" marL="457200" rtl="0" algn="l">
              <a:spcBef>
                <a:spcPts val="1600"/>
              </a:spcBef>
              <a:spcAft>
                <a:spcPts val="0"/>
              </a:spcAft>
              <a:buSzPts val="1600"/>
              <a:buAutoNum type="arabicPeriod"/>
            </a:pPr>
            <a:r>
              <a:rPr lang="en" sz="1600"/>
              <a:t>Incididunt ut labore et dolore</a:t>
            </a:r>
            <a:endParaRPr sz="1600"/>
          </a:p>
          <a:p>
            <a:pPr indent="-330200" lvl="0" marL="457200" rtl="0" algn="l">
              <a:spcBef>
                <a:spcPts val="1600"/>
              </a:spcBef>
              <a:spcAft>
                <a:spcPts val="0"/>
              </a:spcAft>
              <a:buSzPts val="1600"/>
              <a:buAutoNum type="arabicPeriod"/>
            </a:pPr>
            <a:r>
              <a:rPr lang="en" sz="1600"/>
              <a:t>Consectetur adipiscing elit, sed do eiusmod tempor incididunt ut labore et dolore magna aliqua</a:t>
            </a:r>
            <a:endParaRPr sz="1600"/>
          </a:p>
          <a:p>
            <a:pPr indent="-330200" lvl="0" marL="457200" rtl="0" algn="l">
              <a:spcBef>
                <a:spcPts val="1600"/>
              </a:spcBef>
              <a:spcAft>
                <a:spcPts val="1600"/>
              </a:spcAft>
              <a:buSzPts val="1600"/>
              <a:buAutoNum type="arabicPeriod"/>
            </a:pPr>
            <a:r>
              <a:rPr lang="en" sz="1600"/>
              <a:t>Incididunt ut labore et dolore</a:t>
            </a:r>
            <a:endParaRPr sz="1600"/>
          </a:p>
        </p:txBody>
      </p:sp>
      <p:pic>
        <p:nvPicPr>
          <p:cNvPr descr="Overhead shot of hand holding cup of light-colored tea with lemon slices floating in it" id="97" name="Google Shape;97;p19"/>
          <p:cNvPicPr preferRelativeResize="0"/>
          <p:nvPr/>
        </p:nvPicPr>
        <p:blipFill rotWithShape="1">
          <a:blip r:embed="rId3">
            <a:alphaModFix/>
          </a:blip>
          <a:srcRect b="4067" l="17813" r="16061" t="0"/>
          <a:stretch/>
        </p:blipFill>
        <p:spPr>
          <a:xfrm>
            <a:off x="4705150" y="342525"/>
            <a:ext cx="2035799" cy="1955427"/>
          </a:xfrm>
          <a:prstGeom prst="rect">
            <a:avLst/>
          </a:prstGeom>
          <a:noFill/>
          <a:ln>
            <a:noFill/>
          </a:ln>
        </p:spPr>
      </p:pic>
      <p:pic>
        <p:nvPicPr>
          <p:cNvPr descr="Modern, round computer speaker" id="98" name="Google Shape;98;p19"/>
          <p:cNvPicPr preferRelativeResize="0"/>
          <p:nvPr/>
        </p:nvPicPr>
        <p:blipFill rotWithShape="1">
          <a:blip r:embed="rId4">
            <a:alphaModFix/>
          </a:blip>
          <a:srcRect b="15127" l="6179" r="35687" t="10754"/>
          <a:stretch/>
        </p:blipFill>
        <p:spPr>
          <a:xfrm>
            <a:off x="6796425" y="342525"/>
            <a:ext cx="2035799" cy="1946700"/>
          </a:xfrm>
          <a:prstGeom prst="rect">
            <a:avLst/>
          </a:prstGeom>
          <a:noFill/>
          <a:ln>
            <a:noFill/>
          </a:ln>
        </p:spPr>
      </p:pic>
      <p:pic>
        <p:nvPicPr>
          <p:cNvPr descr="Empty upside down mason jars resting on picket fence posts" id="99" name="Google Shape;99;p19"/>
          <p:cNvPicPr preferRelativeResize="0"/>
          <p:nvPr/>
        </p:nvPicPr>
        <p:blipFill rotWithShape="1">
          <a:blip r:embed="rId5">
            <a:alphaModFix/>
          </a:blip>
          <a:srcRect b="9949" l="9164" r="3636" t="13038"/>
          <a:stretch/>
        </p:blipFill>
        <p:spPr>
          <a:xfrm>
            <a:off x="4705200" y="2336175"/>
            <a:ext cx="4127099" cy="24203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512700" y="1893300"/>
            <a:ext cx="8118600" cy="1522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Hypothesis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Tell the audience what you expect to happen...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idx="1" type="body"/>
          </p:nvPr>
        </p:nvSpPr>
        <p:spPr>
          <a:xfrm>
            <a:off x="311700" y="1171675"/>
            <a:ext cx="39999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I think this is what’s going to happen because…</a:t>
            </a:r>
            <a:endParaRPr b="1" sz="1800"/>
          </a:p>
          <a:p>
            <a:pPr indent="0" lvl="0" marL="0" rtl="0" algn="l">
              <a:spcBef>
                <a:spcPts val="1600"/>
              </a:spcBef>
              <a:spcAft>
                <a:spcPts val="1600"/>
              </a:spcAft>
              <a:buNone/>
            </a:pPr>
            <a:r>
              <a:rPr lang="en" sz="1600"/>
              <a:t>Lorem ipsum dolor sit amet, consectetur adipiscing elit, sed do eiusmod tempor incididunt ut labore et dolore magna aliqua. Ut enim ad minim veniam, quis nostrud exercitation ullamco laboris nisi ut aliquip.</a:t>
            </a:r>
            <a:endParaRPr sz="1600"/>
          </a:p>
        </p:txBody>
      </p:sp>
      <p:sp>
        <p:nvSpPr>
          <p:cNvPr id="115" name="Google Shape;115;p22"/>
          <p:cNvSpPr txBox="1"/>
          <p:nvPr>
            <p:ph idx="2" type="body"/>
          </p:nvPr>
        </p:nvSpPr>
        <p:spPr>
          <a:xfrm>
            <a:off x="4832400" y="1171675"/>
            <a:ext cx="39999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t>Variables that may affect the outcome...</a:t>
            </a:r>
            <a:endParaRPr b="1" sz="1800"/>
          </a:p>
          <a:p>
            <a:pPr indent="-330200" lvl="0" marL="457200" rtl="0" algn="l">
              <a:spcBef>
                <a:spcPts val="1600"/>
              </a:spcBef>
              <a:spcAft>
                <a:spcPts val="0"/>
              </a:spcAft>
              <a:buSzPts val="1600"/>
              <a:buChar char="●"/>
            </a:pPr>
            <a:r>
              <a:rPr lang="en" sz="1600"/>
              <a:t>Lorem ipsum dolor sit amet, consectetur adipiscing elit</a:t>
            </a:r>
            <a:endParaRPr sz="1600"/>
          </a:p>
          <a:p>
            <a:pPr indent="-330200" lvl="0" marL="457200" rtl="0" algn="l">
              <a:spcBef>
                <a:spcPts val="0"/>
              </a:spcBef>
              <a:spcAft>
                <a:spcPts val="0"/>
              </a:spcAft>
              <a:buSzPts val="1600"/>
              <a:buChar char="●"/>
            </a:pPr>
            <a:r>
              <a:rPr lang="en" sz="1600"/>
              <a:t>Sed do eiusmod tempor incididunt ut labore et dolore magna aliqua</a:t>
            </a:r>
            <a:endParaRPr sz="1600"/>
          </a:p>
        </p:txBody>
      </p:sp>
      <p:sp>
        <p:nvSpPr>
          <p:cNvPr id="116" name="Google Shape;116;p22"/>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Hypothesis support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descr="Looking through a cardboard paper-towel roll towards light at the end of it" id="121" name="Google Shape;121;p23"/>
          <p:cNvPicPr preferRelativeResize="0"/>
          <p:nvPr/>
        </p:nvPicPr>
        <p:blipFill rotWithShape="1">
          <a:blip r:embed="rId3">
            <a:alphaModFix/>
          </a:blip>
          <a:srcRect b="984" l="22872" r="19354" t="1578"/>
          <a:stretch/>
        </p:blipFill>
        <p:spPr>
          <a:xfrm>
            <a:off x="0" y="0"/>
            <a:ext cx="4576348" cy="5143501"/>
          </a:xfrm>
          <a:prstGeom prst="rect">
            <a:avLst/>
          </a:prstGeom>
          <a:noFill/>
          <a:ln>
            <a:noFill/>
          </a:ln>
        </p:spPr>
      </p:pic>
      <p:pic>
        <p:nvPicPr>
          <p:cNvPr descr="Overhead shot of various masculine accessories including large headphones, a bow-tie, and a wrist watch" id="122" name="Google Shape;122;p23"/>
          <p:cNvPicPr preferRelativeResize="0"/>
          <p:nvPr/>
        </p:nvPicPr>
        <p:blipFill rotWithShape="1">
          <a:blip r:embed="rId4">
            <a:alphaModFix/>
          </a:blip>
          <a:srcRect b="6840" l="37422" r="8654" t="840"/>
          <a:stretch/>
        </p:blipFill>
        <p:spPr>
          <a:xfrm>
            <a:off x="4576350" y="0"/>
            <a:ext cx="4567649" cy="5143200"/>
          </a:xfrm>
          <a:prstGeom prst="rect">
            <a:avLst/>
          </a:prstGeom>
          <a:noFill/>
          <a:ln>
            <a:noFill/>
          </a:ln>
        </p:spPr>
      </p:pic>
      <p:sp>
        <p:nvSpPr>
          <p:cNvPr id="123" name="Google Shape;123;p23"/>
          <p:cNvSpPr txBox="1"/>
          <p:nvPr>
            <p:ph idx="1" type="body"/>
          </p:nvPr>
        </p:nvSpPr>
        <p:spPr>
          <a:xfrm>
            <a:off x="311700" y="4230575"/>
            <a:ext cx="5998800" cy="605100"/>
          </a:xfrm>
          <a:prstGeom prst="rect">
            <a:avLst/>
          </a:prstGeom>
          <a:solidFill>
            <a:schemeClr val="lt1"/>
          </a:solidFill>
        </p:spPr>
        <p:txBody>
          <a:bodyPr anchorCtr="0" anchor="ctr" bIns="91425" lIns="91425" spcFirstLastPara="1" rIns="91425" wrap="square" tIns="91425">
            <a:noAutofit/>
          </a:bodyPr>
          <a:lstStyle/>
          <a:p>
            <a:pPr indent="0" lvl="0" marL="0" rtl="0" algn="l">
              <a:spcBef>
                <a:spcPts val="0"/>
              </a:spcBef>
              <a:spcAft>
                <a:spcPts val="0"/>
              </a:spcAft>
              <a:buNone/>
            </a:pPr>
            <a:r>
              <a:rPr lang="en"/>
              <a:t>The experiment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445025"/>
            <a:ext cx="8520600" cy="613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Conclusion</a:t>
            </a:r>
            <a:endParaRPr/>
          </a:p>
        </p:txBody>
      </p:sp>
      <p:sp>
        <p:nvSpPr>
          <p:cNvPr id="129" name="Google Shape;129;p24"/>
          <p:cNvSpPr txBox="1"/>
          <p:nvPr>
            <p:ph idx="1" type="body"/>
          </p:nvPr>
        </p:nvSpPr>
        <p:spPr>
          <a:xfrm>
            <a:off x="311700" y="1171600"/>
            <a:ext cx="8520600" cy="3397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Lorem ipsum dolor sit amet, consectetur adipiscing elit, sed do eiusmod tempor incididunt ut labore et dolore magna aliqua. Ut enim ad minim veniam, quis nostrud exercitation ullamco laboris nisi ut aliquip.</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